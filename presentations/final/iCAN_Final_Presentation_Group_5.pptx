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project identity: iCAN is a connected assistive navigation ecosystem, not just a smart cane. Mention final deliverable context and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system in one sentence: iCAN pairs immediate local safety feedback with phone-based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connect the human problem to the engineering requirements: sensing range, feedback encoding, and safety prioritization.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split: cane handles real-time safety; eye captures scene imagery; app orchestrates BLE, speech, and AI backend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 realistic use case. Stress that the system is not trying to replace the cane; it extends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Covers the report requirement for hardware, sensors, actuators, and system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tactile language. Distance and side are turned into vibration patterns, not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maps directly to software/hardware integration and original code contributions.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“wow” software slide: phone-side AI makes the embedded camera useful without forcing the ESP32 to run heavy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this in the actual repo QA technical briefing.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systems engineering proof: packet names, directions, and payload fields exist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engineering tradeoffs: runtime, weight, durability, and local fallback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supports both final presentation expectations and later ethics/report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concise. It satisfies related work/comparison without spending too much presentation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 not to overclaim live field-test results. Present this as implementation and validation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tactical: it tells the team exactly what to record for the required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 should sound credible and prioritized, not like feature creep.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intentionally editable. Saber/team should confirm exact contribution wording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core claim: local safety + mobile intelligence + accessibility-first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slide can be expanded if required by the team report/paper, but keep it concise for the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o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9525">
            <a:solidFill>
              <a:srgbClr val="D0D5DD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105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iCAN · ECE 441 Spring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332720" y="65105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5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30">
              <a:alpha val="75000"/>
            </a:srgbClr>
          </a:solidFill>
          <a:ln w="12700">
            <a:solidFill>
              <a:srgbClr val="0B17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8092440" y="-1234440"/>
            <a:ext cx="4572000" cy="4572000"/>
          </a:xfrm>
          <a:prstGeom prst="arc">
            <a:avLst/>
          </a:prstGeom>
          <a:noFill/>
          <a:ln w="25400">
            <a:solidFill>
              <a:srgbClr val="38BDF8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300000">
            <a:off x="8869680" y="137160"/>
            <a:ext cx="3566160" cy="3566160"/>
          </a:xfrm>
          <a:prstGeom prst="arc">
            <a:avLst/>
          </a:prstGeom>
          <a:noFill/>
          <a:ln w="25400">
            <a:solidFill>
              <a:srgbClr val="7C3AED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309360"/>
            <a:ext cx="10927080" cy="0"/>
          </a:xfrm>
          <a:prstGeom prst="line">
            <a:avLst/>
          </a:prstGeom>
          <a:noFill/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5852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FINAL DESIGN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11556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iCAN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49808" y="2075688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2E8F0"/>
                </a:solidFill>
              </a:rPr>
              <a:t>Assistive navigation system for safer independent mobility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8096" y="27889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ECE 441 Spring 2026 · Smart and Connected Embedded System Design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Instructor: Prof. Jafar Saniie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3794760"/>
            <a:ext cx="1325880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877056"/>
            <a:ext cx="1106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Ariel Nyamien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350008" y="3794760"/>
            <a:ext cx="1325880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9736" y="3877056"/>
            <a:ext cx="1106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Aiden Verdin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950208" y="3794760"/>
            <a:ext cx="1325880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59936" y="3877056"/>
            <a:ext cx="1106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Alex Stokrp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550408" y="3794760"/>
            <a:ext cx="1325880" cy="329184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0136" y="3877056"/>
            <a:ext cx="1106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Saber Garibi</a:t>
            </a:r>
            <a:endParaRPr lang="en-US" sz="820" dirty="0"/>
          </a:p>
        </p:txBody>
      </p:sp>
      <p:pic>
        <p:nvPicPr>
          <p:cNvPr id="19" name="Image 0" descr="/root/.openclaw/workspace/projects/ican/assets/ican-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965960"/>
            <a:ext cx="2057400" cy="20574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726680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7E8F9"/>
                </a:solidFill>
              </a:rPr>
              <a:t>CANE  +  EYE  +  APP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iCAN · Group 5 · ECE 441 Spring 2026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411712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Executive snapshot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What we built and why it matters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25880"/>
            <a:ext cx="73152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9047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2862072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Traditional white canes detect ground-level obstacles well but miss head-height hazards, provide limited distance context, and do not integrate navigation or scene awareness.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07408" y="132588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325880"/>
            <a:ext cx="73152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49047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1828800"/>
            <a:ext cx="2862072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iCAN combines directional obstacle sensing, haptic feedback, BLE telemetry, mobile accessibility UX, and an optional camera-based scene description layer.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56448" y="1325880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6448" y="1325880"/>
            <a:ext cx="73152" cy="1508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49047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Impact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1828800"/>
            <a:ext cx="2862072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The system extends perception ahead of the user, preserves hands-free interaction, and moves compute-heavy AI to the phone for better latency, battery use, and upgradability.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0120" y="3703320"/>
            <a:ext cx="1920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" y="381304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Cane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06424" y="410565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LiDAR + ultrasonic + IMU + haptics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063240" y="4096512"/>
            <a:ext cx="10058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60520" y="3703320"/>
            <a:ext cx="1920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88536" y="381304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Eye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06824" y="410565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ESP32-S3 camera + BLE image stream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263640" y="4096512"/>
            <a:ext cx="10058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60920" y="3703320"/>
            <a:ext cx="1920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88936" y="381304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App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507224" y="410565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Flutter + BLE + TTS + AI vision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9464040" y="4096512"/>
            <a:ext cx="82296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378440" y="3703320"/>
            <a:ext cx="14173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06456" y="381304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User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524744" y="4105656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Spatial audio + haptics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1097280" y="52578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Design principle: keep immediate safety feedback local, use the phone for richer context.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30">
              <a:alpha val="75000"/>
            </a:srgbClr>
          </a:solidFill>
          <a:ln w="12700">
            <a:solidFill>
              <a:srgbClr val="0B17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8092440" y="-1234440"/>
            <a:ext cx="4572000" cy="4572000"/>
          </a:xfrm>
          <a:prstGeom prst="arc">
            <a:avLst/>
          </a:prstGeom>
          <a:noFill/>
          <a:ln w="25400">
            <a:solidFill>
              <a:srgbClr val="38BDF8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300000">
            <a:off x="8869680" y="137160"/>
            <a:ext cx="3566160" cy="3566160"/>
          </a:xfrm>
          <a:prstGeom prst="arc">
            <a:avLst/>
          </a:prstGeom>
          <a:noFill/>
          <a:ln w="25400">
            <a:solidFill>
              <a:srgbClr val="7C3AED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309360"/>
            <a:ext cx="10927080" cy="0"/>
          </a:xfrm>
          <a:prstGeom prst="line">
            <a:avLst/>
          </a:prstGeom>
          <a:noFill/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Navigation gaps we are targeting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The device focuses on hazards that are hard to perceive with a standard cane.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7E8F9"/>
                </a:solidFill>
              </a:rPr>
              <a:t>40%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CBD5E1"/>
                </a:solidFill>
              </a:rPr>
              <a:t>blind individuals report head-height collisions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2880360" y="15544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43%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43200" y="2029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CBD5E1"/>
                </a:solidFill>
              </a:rPr>
              <a:t>visually impaired users successfully complete street crossings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</a:rPr>
              <a:t>2m+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00600" y="2029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CBD5E1"/>
                </a:solidFill>
              </a:rPr>
              <a:t>target detection range ahead of the user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360920" y="1234440"/>
            <a:ext cx="3794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0920" y="1234440"/>
            <a:ext cx="73152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16952" y="13990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Why this is embedded systems 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16952" y="1737360"/>
            <a:ext cx="331927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The problem requires sensing, timing, power management, BLE communication, actuator feedback, and user-safe failure behavior — not just an app.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3794760"/>
            <a:ext cx="205740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904488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Head-height hazards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60704" y="4197096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branches · signs · shelves · awnings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383280" y="3794760"/>
            <a:ext cx="205740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11296" y="3904488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Distance ambiguity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29584" y="4197096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near vs. far obstacles need different urgency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5852160" y="3794760"/>
            <a:ext cx="205740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0176" y="3904488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Situational awareness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98464" y="4197096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text · people · scene layout · landmarks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8321040" y="3794760"/>
            <a:ext cx="2057400" cy="786384"/>
          </a:xfrm>
          <a:prstGeom prst="roundRect">
            <a:avLst>
              <a:gd name="adj" fmla="val 9302"/>
            </a:avLst>
          </a:prstGeom>
          <a:solidFill>
            <a:srgbClr val="111827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49056" y="3904488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Navigation load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67344" y="4197096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turns must not mask obstacle alerts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iCAN · Group 5 · ECE 441 Spring 2026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411712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System overview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Two embedded devices and one accessibility-first mobile client.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527048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iCAN Cane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77824" y="1819656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Arduino Nano ESP32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LiDAR + ultrasonic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IMU + haptics + GPS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858768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iCAN Eye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77824" y="4151376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XIAO ESP32-S3 Sense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OV2640 camera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JPEG image stream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4892040" y="24688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0056" y="2578608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Mobile App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38344" y="2871216"/>
            <a:ext cx="20391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Flutter client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BLE control plane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TTS + scene description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9372600" y="141732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0616" y="152704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Local AI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518904" y="1819656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Apple Vision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CoreML depth/object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On-device fallback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9372600" y="37490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0616" y="38587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Cloud AI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518904" y="4151376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Gemini vision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When online/user-selected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926080" y="1965960"/>
            <a:ext cx="1737360" cy="8686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926080" y="4315968"/>
            <a:ext cx="1737360" cy="-1133856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06640" y="2770632"/>
            <a:ext cx="1737360" cy="-804672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06640" y="3273552"/>
            <a:ext cx="1737360" cy="1042416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429000" y="21396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BLE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46120" y="3749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BLE image chunks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User interaction 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Immediate haptics first; speech when richer context is needed.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99339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16736" y="2112264"/>
            <a:ext cx="126187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21208" y="2788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Walk normally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467"/>
                </a:solidFill>
              </a:rPr>
              <a:t>Cane continuously samples obstacle sensors and IMU.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2926080" y="1828800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9816" y="199339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84448" y="2112264"/>
            <a:ext cx="126187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788920" y="2788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Detect hazard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33472" y="31546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467"/>
                </a:solidFill>
              </a:rPr>
              <a:t>Firmware maps obstacle side and distance into haptic urgency.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5193792" y="182880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67528" y="199339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2160" y="2112264"/>
            <a:ext cx="126187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056632" y="2788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Optional capture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01184" y="31546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467"/>
                </a:solidFill>
              </a:rPr>
              <a:t>User triggers iCAN Eye for a scene description.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7461504" y="182880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199339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19872" y="2112264"/>
            <a:ext cx="126187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324344" y="2788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Phone interprets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68896" y="31546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467"/>
                </a:solidFill>
              </a:rPr>
              <a:t>App receives image data and chooses local/cloud AI path.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9729216" y="1828800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02952" y="199339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592056" y="2788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Act safely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36608" y="31546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475467"/>
                </a:solidFill>
              </a:rPr>
              <a:t>User receives directional vibration and spoken spatial context.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1234440" y="4892040"/>
            <a:ext cx="9738360" cy="594360"/>
          </a:xfrm>
          <a:prstGeom prst="roundRect">
            <a:avLst>
              <a:gd name="adj" fmla="val 12308"/>
            </a:avLst>
          </a:prstGeom>
          <a:solidFill>
            <a:srgbClr val="EEF6FF"/>
          </a:solidFill>
          <a:ln w="12700">
            <a:solidFill>
              <a:srgbClr val="B2D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08760" y="508406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49A9"/>
                </a:solidFill>
              </a:rPr>
              <a:t>Safety priority rule: local obstacle alerts must override slower navigation or AI descriptions.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Hardware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Sensors and actuators map directly to user-facing feedback.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788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73152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990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Cane controller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1737360"/>
            <a:ext cx="231343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Arduino Nano ESP32 coordinates sensing, BLE telemetry, event detection, and haptic output.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11880" y="1234440"/>
            <a:ext cx="2788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234440"/>
            <a:ext cx="73152" cy="11704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7912" y="13990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Obstacle sensing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67912" y="1737360"/>
            <a:ext cx="231343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TF-Luna/ToF and ultrasonic sensing provide near/far and head/waist-level obstacle coverage.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29400" y="1234440"/>
            <a:ext cx="2788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1234440"/>
            <a:ext cx="73152" cy="1170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85432" y="13990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Motion + health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85432" y="1737360"/>
            <a:ext cx="231343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LSM6DSOX IMU supports fall detection/orientation; pulse and battery telemetry support monitoring.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46920" y="1234440"/>
            <a:ext cx="1920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46920" y="1234440"/>
            <a:ext cx="73152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02952" y="1399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Feedback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902952" y="1737360"/>
            <a:ext cx="144475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DRV2605L and vibration motors encode direction and urgency through touch.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5840" y="365760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" y="376732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LiDAR/ToF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52144" y="4059936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head-height + spatial grid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2743200" y="365760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71216" y="376732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Ultrasonic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889504" y="4059936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lower obstacle zones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480560" y="365760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08576" y="376732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IMU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26864" y="4059936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yaw + fall events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217920" y="365760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376732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GPS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64224" y="4059936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location + guided nav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7955280" y="365760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83296" y="376732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BLE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101584" y="4059936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app telemetry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9692640" y="365760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20656" y="376732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Haptics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838944" y="4059936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left/right/top motors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2395728" y="3995928"/>
            <a:ext cx="301752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133088" y="3995928"/>
            <a:ext cx="301752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870448" y="3995928"/>
            <a:ext cx="301752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607808" y="3995928"/>
            <a:ext cx="301752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345168" y="3995928"/>
            <a:ext cx="301752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841248" y="53492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BOM highlights: Arduino Nano ESP32, XIAO ESP32-S3 Sense, TF-Luna/ToF, ultrasonic sensors, LSM6DSOX, DRV2605L, vibration motors, GPS, Li-Po batteries.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30">
              <a:alpha val="75000"/>
            </a:srgbClr>
          </a:solidFill>
          <a:ln w="12700">
            <a:solidFill>
              <a:srgbClr val="0B17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8092440" y="-1234440"/>
            <a:ext cx="4572000" cy="4572000"/>
          </a:xfrm>
          <a:prstGeom prst="arc">
            <a:avLst/>
          </a:prstGeom>
          <a:noFill/>
          <a:ln w="25400">
            <a:solidFill>
              <a:srgbClr val="38BDF8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300000">
            <a:off x="8869680" y="137160"/>
            <a:ext cx="3566160" cy="3566160"/>
          </a:xfrm>
          <a:prstGeom prst="arc">
            <a:avLst/>
          </a:prstGeom>
          <a:noFill/>
          <a:ln w="25400">
            <a:solidFill>
              <a:srgbClr val="7C3AED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309360"/>
            <a:ext cx="10927080" cy="0"/>
          </a:xfrm>
          <a:prstGeom prst="line">
            <a:avLst/>
          </a:prstGeom>
          <a:noFill/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Obstacle detection → haptic language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The user should feel direction, distance, and urgency without looking at a screen.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527048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Left/right ultrasonics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23544" y="1819656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waist-level obstacles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side-specific alerts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1527048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Top LiDAR/ToF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92424" y="1819656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head-height hazards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branches/signs/awnings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715000" y="141732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43016" y="1527048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IMU sweep filter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61304" y="1819656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reduces false positives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from natural cane motion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8183880" y="141732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1896" y="1527048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Haptic driver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30184" y="1819656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distance-scaled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pulse/intensity patterns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1920240" y="370332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123D2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388620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2–4 m: intermittent pulse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70332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4A3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88620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1–2 m: continuous vibration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8080" y="370332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4A151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388620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&lt;1 m: strong vibration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5166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7E8F9"/>
                </a:solidFill>
              </a:rPr>
              <a:t>Feedback rule: the closest safety event wins over navigation guidance.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iCAN · Group 5 · ECE 441 Spring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411712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Cane firmware structure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Modular firmware keeps sensing, events, power, and feedback testable.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14356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Sensor layer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23544" y="172821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LiDAR · ultrasonic · IMU · pulse · GPS · battery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2971800" y="13258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9816" y="14356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Event detection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18104" y="172821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obstacle side · fall flag · low battery · sensor health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5166360" y="13258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94376" y="14356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State manager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12664" y="172821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normal · low power · emergency · sleep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7360920" y="13258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88936" y="14356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Response layer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07224" y="172821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haptic · LED · buzzer · BLE notify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9555480" y="13258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83496" y="14356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App telemetry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701784" y="172821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battery % · BPM · yaw · GPS · status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651760" y="1737360"/>
            <a:ext cx="27432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46320" y="1737360"/>
            <a:ext cx="27432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40880" y="1737360"/>
            <a:ext cx="27432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35440" y="1737360"/>
            <a:ext cx="274320" cy="0"/>
          </a:xfrm>
          <a:prstGeom prst="line">
            <a:avLst/>
          </a:prstGeom>
          <a:noFill/>
          <a:ln w="2540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68680" y="306324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3063240"/>
            <a:ext cx="73152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4712" y="32278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Power management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24712" y="3566160"/>
            <a:ext cx="258775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Firmware documentation reports sleep modes that reduce idle draw from always-active behavior into staged low-power states.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26280" y="306324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3063240"/>
            <a:ext cx="73152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32278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Safety behavior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82312" y="3566160"/>
            <a:ext cx="258775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Fall alert logic avoids indefinite buzzer activation and caps emergency behavior to prevent battery drain.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83880" y="306324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306324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39912" y="3227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Protocol discipline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39912" y="3566160"/>
            <a:ext cx="226771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A shared BLE protocol file mirrors packet fields in C++ firmware and Dart app code to avoid mismatch bugs.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05840" y="50749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67085"/>
                </a:solidFill>
              </a:rPr>
              <a:t>Evidence source: firmware/protosmart_cane STATUS_REPORT, DEPLOYMENT_CHECKLIST, and protocol/ble_protocol.yaml.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iCAN Eye: scene awareness pipeline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Camera hardware captures the world; the phone turns it into speech.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1737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221284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ESP32-S3 Eye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23544" y="250545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OV2640 capture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button trigger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2697480" y="2496312"/>
            <a:ext cx="96012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49040" y="2103120"/>
            <a:ext cx="1737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221284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BLE stream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95344" y="250545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JPEG chunks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sequence numbers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0" y="2496312"/>
            <a:ext cx="9601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720840" y="2103120"/>
            <a:ext cx="1737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48856" y="221284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Phone vision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67144" y="250545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Apple Vision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Depth + objects + OCR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8641080" y="2496312"/>
            <a:ext cx="9601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92640" y="2103120"/>
            <a:ext cx="1737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0656" y="221284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Speech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38944" y="2505456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4–6 sentence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spatial description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822960" y="3886200"/>
            <a:ext cx="2971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886200"/>
            <a:ext cx="73152" cy="11704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40507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Layer 1 perception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4389120"/>
            <a:ext cx="249631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OCR, scene classification, human detection, depth estimation, and object boxes run as structured perception.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43400" y="3886200"/>
            <a:ext cx="2971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3886200"/>
            <a:ext cx="73152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40507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Layer 2 understanding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99432" y="4389120"/>
            <a:ext cx="249631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A VLM backend adds holistic image interpretation when local model or cloud mode is available.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863840" y="3886200"/>
            <a:ext cx="2971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3886200"/>
            <a:ext cx="73152" cy="1170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9872" y="40507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Layer 3 speech synthesis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19872" y="4389120"/>
            <a:ext cx="2496312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The app converts perception into short, practical, clock-position guidance.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30">
              <a:alpha val="75000"/>
            </a:srgbClr>
          </a:solidFill>
          <a:ln w="12700">
            <a:solidFill>
              <a:srgbClr val="0B17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8092440" y="-1234440"/>
            <a:ext cx="4572000" cy="4572000"/>
          </a:xfrm>
          <a:prstGeom prst="arc">
            <a:avLst/>
          </a:prstGeom>
          <a:noFill/>
          <a:ln w="25400">
            <a:solidFill>
              <a:srgbClr val="38BDF8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300000">
            <a:off x="8869680" y="137160"/>
            <a:ext cx="3566160" cy="3566160"/>
          </a:xfrm>
          <a:prstGeom prst="arc">
            <a:avLst/>
          </a:prstGeom>
          <a:noFill/>
          <a:ln w="25400">
            <a:solidFill>
              <a:srgbClr val="7C3AED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309360"/>
            <a:ext cx="10927080" cy="0"/>
          </a:xfrm>
          <a:prstGeom prst="line">
            <a:avLst/>
          </a:prstGeom>
          <a:noFill/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Mobile app architecture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Flutter app as the accessible command center.</a:t>
            </a:r>
            <a:endParaRPr lang="en-US" sz="1050" dirty="0"/>
          </a:p>
        </p:txBody>
      </p:sp>
      <p:pic>
        <p:nvPicPr>
          <p:cNvPr id="9" name="Image 0" descr="/root/.openclaw/workspace/projects/ican/assets/ican-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417320"/>
            <a:ext cx="1280160" cy="12801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51760" y="114300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51760" y="1143000"/>
            <a:ext cx="73152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07792" y="13075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Accessibility-first UI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907792" y="1645920"/>
            <a:ext cx="213055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WCAG AAA-oriented theme, Semantics wrappers, large controls, VoiceOver/TalkBack design.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114300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77840" y="114300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33872" y="13075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BLE services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33872" y="1645920"/>
            <a:ext cx="213055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Dual-device connection management, image reassembly, telemetry streams, saved device IDs.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503920" y="114300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03920" y="1143000"/>
            <a:ext cx="73152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59952" y="13075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Speech loop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759952" y="1645920"/>
            <a:ext cx="213055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TTS output, voice-command direction, and scene-description history for repeatable feedback.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960120" y="3794760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88136" y="3904488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HomeViewModel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06424" y="419709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state orchestration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3246120" y="3794760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74136" y="3904488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BleService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392424" y="419709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scan/connect/packets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5532120" y="3794760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0136" y="3904488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SceneService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678424" y="419709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backend selection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7818120" y="3794760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46136" y="3904488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VisionChannel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964424" y="419709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Swift/CoreML bridge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10104120" y="3794760"/>
            <a:ext cx="114300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232136" y="3904488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TTS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0250424" y="4197096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audio output</a:t>
            </a:r>
            <a:endParaRPr lang="en-US" sz="780" dirty="0"/>
          </a:p>
        </p:txBody>
      </p:sp>
      <p:sp>
        <p:nvSpPr>
          <p:cNvPr id="37" name="Shape 34"/>
          <p:cNvSpPr/>
          <p:nvPr/>
        </p:nvSpPr>
        <p:spPr>
          <a:xfrm>
            <a:off x="2788920" y="4151376"/>
            <a:ext cx="41148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5074920" y="4151376"/>
            <a:ext cx="41148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7360920" y="4151376"/>
            <a:ext cx="41148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9646920" y="4151376"/>
            <a:ext cx="41148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1" name="Text 38"/>
          <p:cNvSpPr/>
          <p:nvPr/>
        </p:nvSpPr>
        <p:spPr>
          <a:xfrm>
            <a:off x="1051560" y="53492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Tech stack: Dart/Flutter, Provider MVVM, GoRouter, flutter_blue_plus, CoreML/Vision Swift channels, Gemini fallback.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iCAN · Group 5 · ECE 441 Spring 2026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11411712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BLE protocol and data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 shared protocol keeps firmware and app behavior aligned.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29260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73152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Cane service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41832" y="1737360"/>
            <a:ext cx="2450592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Navigation commands, obstacle alerts, IMU telemetry, cane status, GPS data.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17720" y="1234440"/>
            <a:ext cx="29260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234440"/>
            <a:ext cx="73152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Eye service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73752" y="1737360"/>
            <a:ext cx="2450592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Instant text, JPEG image stream, capture/profile/status commands.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549640" y="1234440"/>
            <a:ext cx="27432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1234440"/>
            <a:ext cx="73152" cy="12618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5672" y="1399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Packet discipline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05672" y="1737360"/>
            <a:ext cx="2267712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Little-endian telemetry, explicit fields, and documented image sequence headers.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37033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81304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App → Cane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60704" y="410565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NAV_LEFT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NAV_RIGHT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STOP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880360" y="37033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08376" y="381304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Cane → App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26664" y="410565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obstacle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fall flag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battery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846320" y="37033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4336" y="381304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App → Eye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92624" y="410565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CAPTURE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LIVE_START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PROFILE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6812280" y="37033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0296" y="381304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Eye → App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58584" y="410565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text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image chunks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8778240" y="3703320"/>
            <a:ext cx="1417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06256" y="381304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App → User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924544" y="410565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speech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alerts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475467"/>
                </a:solidFill>
              </a:rPr>
              <a:t>haptics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1005840" y="5257800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Single source of truth: protocol/ble_protocol.yaml mirrors firmware/shared/ble_protocol.h and lib/protocol/ble_protocol.dart.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Power, packaging, and constraints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The design is constrained by weight, runtime, weather, and user comfort.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73152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533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Runtime target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1691640"/>
            <a:ext cx="20391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Prior deck target: 8–10 hour operating goal; firmware emphasizes staged power modes and battery telemetry.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11880" y="11887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18872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7912" y="13533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Physical layout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67912" y="1691640"/>
            <a:ext cx="20391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Handle houses haptic motors; sensors mount below/top of handle with wiring strain relief and shock mounting.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92240" y="11887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188720"/>
            <a:ext cx="73152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13533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Weather &amp; durability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48272" y="1691640"/>
            <a:ext cx="20391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Prior design target includes IP65-style considerations: gaskets, venting, connectors, and robust mounting.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372600" y="118872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1188720"/>
            <a:ext cx="73152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28632" y="13533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Safety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28632" y="1691640"/>
            <a:ext cx="158191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Failsafe behavior: obstacle alerts remain local; cloud AI is optional, not required for basic safety.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143000" y="3886200"/>
            <a:ext cx="9829800" cy="16459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4440" y="3593592"/>
            <a:ext cx="749808" cy="7498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526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Active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800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100% duty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749040" y="3593592"/>
            <a:ext cx="749808" cy="7498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4526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Use case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4800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mixed sensing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63640" y="3593592"/>
            <a:ext cx="749808" cy="7498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4526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Low power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06440" y="4800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reduced draw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778240" y="3593592"/>
            <a:ext cx="749808" cy="7498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4526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Emergency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21040" y="4800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bounded alert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30">
              <a:alpha val="75000"/>
            </a:srgbClr>
          </a:solidFill>
          <a:ln w="12700">
            <a:solidFill>
              <a:srgbClr val="0B17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8092440" y="-1234440"/>
            <a:ext cx="4572000" cy="4572000"/>
          </a:xfrm>
          <a:prstGeom prst="arc">
            <a:avLst/>
          </a:prstGeom>
          <a:noFill/>
          <a:ln w="25400">
            <a:solidFill>
              <a:srgbClr val="38BDF8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300000">
            <a:off x="8869680" y="137160"/>
            <a:ext cx="3566160" cy="3566160"/>
          </a:xfrm>
          <a:prstGeom prst="arc">
            <a:avLst/>
          </a:prstGeom>
          <a:noFill/>
          <a:ln w="25400">
            <a:solidFill>
              <a:srgbClr val="7C3AED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309360"/>
            <a:ext cx="10927080" cy="0"/>
          </a:xfrm>
          <a:prstGeom prst="line">
            <a:avLst/>
          </a:prstGeom>
          <a:noFill/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Security and responsible design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Assistive technology must be useful without becoming invasive.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128016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28016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1444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Privacy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33272" y="1783080"/>
            <a:ext cx="1993392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Image processing is designed to run locally when possible; cloud vision is a selected/fallback path, not the only path.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11880" y="128016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11880" y="1280160"/>
            <a:ext cx="73152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7912" y="1444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Safety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67912" y="1783080"/>
            <a:ext cx="1993392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The cane’s local obstacle feedback does not depend on internet access, cloud services, or a perfect AI caption.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46520" y="128016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280160"/>
            <a:ext cx="73152" cy="1325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444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Transparency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02552" y="1783080"/>
            <a:ext cx="1993392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The app should speak concise spatial context and avoid overclaiming uncertain detections.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281160" y="128016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81160" y="128016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37192" y="14447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Security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37192" y="1783080"/>
            <a:ext cx="1673352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BLE command scope is narrow: navigation commands, telemetry, capture/status, and documented packet formats.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3977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Ethical design stance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4434840"/>
            <a:ext cx="9784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2E8F0"/>
                </a:solidFill>
              </a:rPr>
              <a:t>Prioritize user autonomy, preserve safety-critical functions offline, and make AI assistance explainable enough to trust but bounded enough not to mislead.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iCAN · Group 5 · ECE 441 Spring 2026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411712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Related work and differentiation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iCAN is positioned between simple smart canes and phone-only navigation aids.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108356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46120" y="1508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Strength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532120" y="1508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Gap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09560" y="1508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</a:rPr>
              <a:t>iCAN response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828800"/>
            <a:ext cx="10287000" cy="0"/>
          </a:xfrm>
          <a:prstGeom prst="line">
            <a:avLst/>
          </a:prstGeom>
          <a:noFill/>
          <a:ln w="6350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933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01828"/>
                </a:solidFill>
              </a:rPr>
              <a:t>Traditional white cane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3246120" y="19933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75467"/>
                </a:solidFill>
              </a:rPr>
              <a:t>Reliable, low-cost, passive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5532120" y="19933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75467"/>
                </a:solidFill>
              </a:rPr>
              <a:t>Limited range; poor head-height detection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7909560" y="19933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75467"/>
                </a:solidFill>
              </a:rPr>
              <a:t>iCAN extends sensing while preserving cane use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868680" y="2578608"/>
            <a:ext cx="10287000" cy="0"/>
          </a:xfrm>
          <a:prstGeom prst="line">
            <a:avLst/>
          </a:prstGeom>
          <a:noFill/>
          <a:ln w="6350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743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01828"/>
                </a:solidFill>
              </a:rPr>
              <a:t>WeWalk / smart canes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3246120" y="2743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75467"/>
                </a:solidFill>
              </a:rPr>
              <a:t>Commercial precedent for connected cane systems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5532120" y="2743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75467"/>
                </a:solidFill>
              </a:rPr>
              <a:t>High cost; limited customization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7909560" y="2743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75467"/>
                </a:solidFill>
              </a:rPr>
              <a:t>Course prototype explores open, modular architecture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868680" y="3328416"/>
            <a:ext cx="10287000" cy="0"/>
          </a:xfrm>
          <a:prstGeom prst="line">
            <a:avLst/>
          </a:prstGeom>
          <a:noFill/>
          <a:ln w="6350">
            <a:solidFill>
              <a:srgbClr val="E4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493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01828"/>
                </a:solidFill>
              </a:rPr>
              <a:t>Phone-only vision apps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3246120" y="3493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75467"/>
                </a:solidFill>
              </a:rPr>
              <a:t>Powerful AI descriptions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5532120" y="3493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75467"/>
                </a:solidFill>
              </a:rPr>
              <a:t>No immediate tactile obstacle feedback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7909560" y="349300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75467"/>
                </a:solidFill>
              </a:rPr>
              <a:t>iCAN separates local safety from rich scene context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868680" y="4078224"/>
            <a:ext cx="10287000" cy="0"/>
          </a:xfrm>
          <a:prstGeom prst="line">
            <a:avLst/>
          </a:prstGeom>
          <a:noFill/>
          <a:ln w="6350">
            <a:solidFill>
              <a:srgbClr val="E4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24281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101828"/>
                </a:solidFill>
              </a:rPr>
              <a:t>Wearable navigation systems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3246120" y="424281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75467"/>
                </a:solidFill>
              </a:rPr>
              <a:t>Hands-free perception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5532120" y="424281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75467"/>
                </a:solidFill>
              </a:rPr>
              <a:t>Can be bulky or opaque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7909560" y="424281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475467"/>
                </a:solidFill>
              </a:rPr>
              <a:t>iCAN uses cane + necklace + phone split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Implementation progress and validation evidence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The project has working software structure and documented firmware verification paths.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1280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990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Mobile 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1737360"/>
            <a:ext cx="231343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Flutter app includes BLE service, accessible screens, scene-description service, TTS, device pairing, settings, and diagnostic screens.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94760" y="123444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94760" y="1234440"/>
            <a:ext cx="73152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0792" y="13990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iCAN Eye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50792" y="1737360"/>
            <a:ext cx="231343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Firmware was refactored into camera, BLE, and main orchestration modules with build environments for main, camera, and BLE stream testing.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0" y="123444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1234440"/>
            <a:ext cx="73152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4032" y="13990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Cane firmware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14032" y="1737360"/>
            <a:ext cx="231343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ProtoSmartCane v2.0 documentation covers battery monitoring, sleep modes, haptic driver, fall alert handling, and deployment checks.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921240" y="123444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21240" y="1234440"/>
            <a:ext cx="73152" cy="1280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77272" y="13990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Repo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177272" y="1737360"/>
            <a:ext cx="103327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Codebase and docs are centralized in GitHub for review.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" y="3291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</a:rPr>
              <a:t>Verification currently documented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051560" y="3767328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371246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PlatformIO build environments for iCAN Eye modules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51560" y="4151376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4096512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Shared BLE protocol mirrored across firmware/app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51560" y="4535424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44805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App architecture briefing with dependencies and file structure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51560" y="491947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25880" y="48646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</a:rPr>
              <a:t>Deployment checklist for hardware field tests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51560" y="55778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</a:rPr>
              <a:t>Project repo: https://github.com/saberrg/ican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30">
              <a:alpha val="75000"/>
            </a:srgbClr>
          </a:solidFill>
          <a:ln w="12700">
            <a:solidFill>
              <a:srgbClr val="0B17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8092440" y="-1234440"/>
            <a:ext cx="4572000" cy="4572000"/>
          </a:xfrm>
          <a:prstGeom prst="arc">
            <a:avLst/>
          </a:prstGeom>
          <a:noFill/>
          <a:ln w="25400">
            <a:solidFill>
              <a:srgbClr val="38BDF8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300000">
            <a:off x="8869680" y="137160"/>
            <a:ext cx="3566160" cy="3566160"/>
          </a:xfrm>
          <a:prstGeom prst="arc">
            <a:avLst/>
          </a:prstGeom>
          <a:noFill/>
          <a:ln w="25400">
            <a:solidFill>
              <a:srgbClr val="7C3AED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309360"/>
            <a:ext cx="10927080" cy="0"/>
          </a:xfrm>
          <a:prstGeom prst="line">
            <a:avLst/>
          </a:prstGeom>
          <a:noFill/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Recorded demo plan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Use the 5+ minute demo block to prove the system, not just describe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9339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78992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Cane sensing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Show obstacle approach and haptic direction/intensity response.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11880" y="182880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199339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67912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BLE telemetry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67912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Show app connection/status and battery/IMU/alert fields.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182880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199339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56832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Eye capture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56832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Trigger capture and show image/description flow.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89720" y="182880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54312" y="199339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445752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Accessibility UX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45752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Demonstrate spoken output, large controls, and blind-user-oriented flow.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49834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E8F9"/>
                </a:solidFill>
              </a:rPr>
              <a:t>Suggested timing: ~8–9 minutes slides + ~5–6 minutes demo = under 15 minutes total.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iCAN · Group 5 · ECE 441 Spring 2026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411712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Remaining work and future improvements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The final system has a clear path from prototype to deployable assistive device.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990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Hardware field trial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1737360"/>
            <a:ext cx="203911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Validate sensor placement, vibration interpretation, battery estimates, and comfort in walking tests.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20440" y="12344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234440"/>
            <a:ext cx="73152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13990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Guided navigation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76472" y="1737360"/>
            <a:ext cx="203911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Integrate Mapbox/walking directions and tune haptic turn timing around obstacle override rules.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12344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23444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3990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Vision optimization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65392" y="1737360"/>
            <a:ext cx="203911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Benchmark local VLM quality/latency and improve spatial descriptions with depth + object fusion.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98280" y="12344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123444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54312" y="13990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Safety review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54312" y="1737360"/>
            <a:ext cx="185623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Improve privacy controls, BLE pairing rules, and failure-mode documentation.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" y="4114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Prototype → verified demo → user-centered field testing → refinement → deployable design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34440" y="4864608"/>
            <a:ext cx="96926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143000" y="4617720"/>
            <a:ext cx="502920" cy="502920"/>
          </a:xfrm>
          <a:prstGeom prst="ellipse">
            <a:avLst/>
          </a:prstGeom>
          <a:solidFill>
            <a:srgbClr val="22C55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2303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467"/>
                </a:solidFill>
              </a:rPr>
              <a:t>Prototype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0" y="4617720"/>
            <a:ext cx="502920" cy="502920"/>
          </a:xfrm>
          <a:prstGeom prst="ellipse">
            <a:avLst/>
          </a:prstGeom>
          <a:solidFill>
            <a:srgbClr val="22C55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52303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467"/>
                </a:solidFill>
              </a:rPr>
              <a:t>Demo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806440" y="4617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52303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467"/>
                </a:solidFill>
              </a:rPr>
              <a:t>Field test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138160" y="4617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52303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467"/>
                </a:solidFill>
              </a:rPr>
              <a:t>Refine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469880" y="4617720"/>
            <a:ext cx="502920" cy="502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0" y="52303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467"/>
                </a:solidFill>
              </a:rPr>
              <a:t>Deploy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Team member work contributions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Final report and presentation must clearly describe each member’s tasks.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3990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Ariel Nyamien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3272" y="1737360"/>
            <a:ext cx="2039112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Power and hardware design: sensor/actuator selection, packaging constraints, electrical integration support.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20440" y="12344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234440"/>
            <a:ext cx="73152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13990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Aiden Verdin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76472" y="1737360"/>
            <a:ext cx="2039112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Controls and embedded systems: firmware logic, sensor processing, state behavior, hardware testing support.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12344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23444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3990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Alex Stokrp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1737360"/>
            <a:ext cx="2039112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Hardware and circuit design: schematic/BOM support, packaging, sensor placement, physical integration.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06840" y="12344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06840" y="123444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139903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Saber Garibi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62872" y="1737360"/>
            <a:ext cx="2039112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Software/app architecture: Flutter app, BLE protocol integration, AI vision pipeline, repo documentation.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4343400"/>
            <a:ext cx="10241280" cy="658368"/>
          </a:xfrm>
          <a:prstGeom prst="roundRect">
            <a:avLst>
              <a:gd name="adj" fmla="val 11111"/>
            </a:avLst>
          </a:prstGeom>
          <a:solidFill>
            <a:srgbClr val="F0F9FF"/>
          </a:solidFill>
          <a:ln w="12700">
            <a:solidFill>
              <a:srgbClr val="B9E6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553712"/>
            <a:ext cx="9738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6AA2"/>
                </a:solidFill>
              </a:rPr>
              <a:t>Note: confirm/edit contribution wording before final submission so it matches the team’s actual work split.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30">
              <a:alpha val="75000"/>
            </a:srgbClr>
          </a:solidFill>
          <a:ln w="12700">
            <a:solidFill>
              <a:srgbClr val="0B173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8092440" y="-1234440"/>
            <a:ext cx="4572000" cy="4572000"/>
          </a:xfrm>
          <a:prstGeom prst="arc">
            <a:avLst/>
          </a:prstGeom>
          <a:noFill/>
          <a:ln w="25400">
            <a:solidFill>
              <a:srgbClr val="38BDF8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300000">
            <a:off x="8869680" y="137160"/>
            <a:ext cx="3566160" cy="3566160"/>
          </a:xfrm>
          <a:prstGeom prst="arc">
            <a:avLst/>
          </a:prstGeom>
          <a:noFill/>
          <a:ln w="25400">
            <a:solidFill>
              <a:srgbClr val="7C3AED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309360"/>
            <a:ext cx="10927080" cy="0"/>
          </a:xfrm>
          <a:prstGeom prst="line">
            <a:avLst/>
          </a:prstGeom>
          <a:noFill/>
          <a:ln w="12700">
            <a:solidFill>
              <a:srgbClr val="38BDF8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Conclusion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iCAN extends mobility feedback without taking control away from the user.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practical assistive navigation system should be immediate, understandable, and resilient.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051560" y="278892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2788920"/>
            <a:ext cx="73152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29535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Immediate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07592" y="3291840"/>
            <a:ext cx="231343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Obstacle feedback is local and tactile, so basic safety does not depend on cloud AI.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278892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2788920"/>
            <a:ext cx="73152" cy="1234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29535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Understandable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65192" y="3291840"/>
            <a:ext cx="231343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Haptics encode side/distance; speech describes spatial context in plain language.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366760" y="278892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7EC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278892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22792" y="29535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Resilient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22792" y="3291840"/>
            <a:ext cx="231343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467"/>
                </a:solidFill>
              </a:rPr>
              <a:t>The cane, eye, and app are modular, documented, and independently testable.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43000" y="516636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iCAN is a connected ecosystem: embedded sensing for safety, mobile compute for intelligence, and accessible feedback for the user.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iCAN · Group 5 · ECE 441 Spring 2026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411712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</a:rPr>
              <a:t>References and source material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Key sources used for the final deck.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056132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4E7EC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362456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467"/>
                </a:solidFill>
              </a:rPr>
              <a:t>Bourne et al., “Global prevalence of blindness and vision impairment,” The Lancet Global Health, 2017. https://doi.org/10.1016/S2214-109X(17)30293-0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822960" y="1892808"/>
            <a:ext cx="105613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7EC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20824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467"/>
                </a:solidFill>
              </a:rPr>
              <a:t>iCAN GitHub repository and project documentation: https://github.com/saberrg/ican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822960" y="2551176"/>
            <a:ext cx="1056132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4E7EC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679192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467"/>
                </a:solidFill>
              </a:rPr>
              <a:t>Nano ESP32 / XIAO ESP32-S3 / sensor datasheets listed in prior project references and BOM.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105613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7EC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337560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467"/>
                </a:solidFill>
              </a:rPr>
              <a:t>Apple Core ML and Vision documentation for on-device perception pipeline.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822960" y="3867912"/>
            <a:ext cx="1056132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4E7EC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95928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467"/>
                </a:solidFill>
              </a:rPr>
              <a:t>Moondream project reference for VLM experimentation: https://github.com/vikhyat/moondream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822960" y="4526280"/>
            <a:ext cx="1056132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7EC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4654296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75467"/>
                </a:solidFill>
              </a:rPr>
              <a:t>ECE 441 final project requirements and evaluation material from Canvas.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Illinois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iCAN Final Presentation</dc:title>
  <dc:subject>iCAN Smart and Connected Embedded System Design</dc:subject>
  <dc:creator>Ariel Nyamien, Aiden Verdin, Alex Stokrp, Saber Garibi</dc:creator>
  <cp:lastModifiedBy>Ariel Nyamien, Aiden Verdin, Alex Stokrp, Saber Garibi</cp:lastModifiedBy>
  <cp:revision>1</cp:revision>
  <dcterms:created xsi:type="dcterms:W3CDTF">2026-04-27T22:53:17Z</dcterms:created>
  <dcterms:modified xsi:type="dcterms:W3CDTF">2026-04-27T22:53:17Z</dcterms:modified>
</cp:coreProperties>
</file>